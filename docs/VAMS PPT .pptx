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Montserrat"/>
      <p:bold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Montserrat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e457dce28dcff31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e457dce28dcff31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6e457dce28dcff31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6e457dce28dcff31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6e457dce28dcff31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6e457dce28dcff31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6e457dce28dcff31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6e457dce28dcff31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6e457dce28dcff31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6e457dce28dcff31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e457dce28dcff31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6e457dce28dcff3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6e457dce28dcff31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6e457dce28dcff31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6e457dce28dcff31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6e457dce28dcff3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6e457dce28dcff31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h6e457dce28dcff3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6e457dce28dcff31_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h6e457dce28dcff3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6b7f2a78bcf4940_6_0)">
  <p:cSld name="Generated (h56b7f2a78bcf4940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>
            <a:off x="8162925" y="4229100"/>
            <a:ext cx="847725" cy="657375"/>
            <a:chOff x="8162925" y="4229100"/>
            <a:chExt cx="847725" cy="657375"/>
          </a:xfrm>
        </p:grpSpPr>
        <p:sp>
          <p:nvSpPr>
            <p:cNvPr id="58" name="Google Shape;58;p14"/>
            <p:cNvSpPr/>
            <p:nvPr/>
          </p:nvSpPr>
          <p:spPr>
            <a:xfrm>
              <a:off x="8534400" y="4533900"/>
              <a:ext cx="76200" cy="7620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8896350" y="4229100"/>
              <a:ext cx="114300" cy="114300"/>
            </a:xfrm>
            <a:prstGeom prst="ellipse">
              <a:avLst/>
            </a:prstGeom>
            <a:solidFill>
              <a:srgbClr val="0284C7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8162925" y="4829175"/>
              <a:ext cx="57300" cy="5730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" name="Google Shape;61;p14"/>
            <p:cNvCxnSpPr/>
            <p:nvPr/>
          </p:nvCxnSpPr>
          <p:spPr>
            <a:xfrm flipH="1" rot="10800000">
              <a:off x="8572500" y="4286100"/>
              <a:ext cx="38100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 flipH="1">
              <a:off x="8191500" y="4572000"/>
              <a:ext cx="38100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3" name="Google Shape;63;p14"/>
          <p:cNvGrpSpPr/>
          <p:nvPr/>
        </p:nvGrpSpPr>
        <p:grpSpPr>
          <a:xfrm>
            <a:off x="7848600" y="533400"/>
            <a:ext cx="762000" cy="762000"/>
            <a:chOff x="76200" y="76200"/>
            <a:chExt cx="762000" cy="762000"/>
          </a:xfrm>
        </p:grpSpPr>
        <p:sp>
          <p:nvSpPr>
            <p:cNvPr id="64" name="Google Shape;64;p14"/>
            <p:cNvSpPr/>
            <p:nvPr/>
          </p:nvSpPr>
          <p:spPr>
            <a:xfrm>
              <a:off x="76200" y="76200"/>
              <a:ext cx="762000" cy="762000"/>
            </a:xfrm>
            <a:prstGeom prst="ellipse">
              <a:avLst/>
            </a:prstGeom>
            <a:solidFill>
              <a:srgbClr val="E0F2FE"/>
            </a:solidFill>
            <a:ln cap="flat" cmpd="sng" w="19050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66700" y="228600"/>
              <a:ext cx="381000" cy="4572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0" y="30000"/>
                  </a:lnTo>
                  <a:lnTo>
                    <a:pt x="0" y="90000"/>
                  </a:lnTo>
                  <a:lnTo>
                    <a:pt x="60000" y="120000"/>
                  </a:lnTo>
                  <a:lnTo>
                    <a:pt x="120000" y="90000"/>
                  </a:lnTo>
                  <a:lnTo>
                    <a:pt x="120000" y="3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266700" y="342900"/>
              <a:ext cx="381000" cy="342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40000"/>
                  </a:lnTo>
                  <a:lnTo>
                    <a:pt x="120000" y="0"/>
                  </a:lnTo>
                  <a:moveTo>
                    <a:pt x="60000" y="40000"/>
                  </a:move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857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609600" y="1143000"/>
            <a:ext cx="6667500" cy="1466850"/>
            <a:chOff x="0" y="0"/>
            <a:chExt cx="6667500" cy="1466850"/>
          </a:xfrm>
        </p:grpSpPr>
        <p:sp>
          <p:nvSpPr>
            <p:cNvPr id="68" name="Google Shape;68;p14"/>
            <p:cNvSpPr txBox="1"/>
            <p:nvPr/>
          </p:nvSpPr>
          <p:spPr>
            <a:xfrm>
              <a:off x="0" y="0"/>
              <a:ext cx="6667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33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QR-Based Visitor Access</a:t>
              </a:r>
              <a:endParaRPr b="1" sz="333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3330">
                  <a:solidFill>
                    <a:srgbClr val="0284C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Management System (VAMS)</a:t>
              </a:r>
              <a:endParaRPr b="1" sz="3330">
                <a:solidFill>
                  <a:srgbClr val="0284C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0" y="1428750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4572000" y="2476500"/>
            <a:ext cx="3962400" cy="2190900"/>
            <a:chOff x="0" y="0"/>
            <a:chExt cx="3962400" cy="2190900"/>
          </a:xfrm>
        </p:grpSpPr>
        <p:sp>
          <p:nvSpPr>
            <p:cNvPr id="71" name="Google Shape;71;p14"/>
            <p:cNvSpPr/>
            <p:nvPr/>
          </p:nvSpPr>
          <p:spPr>
            <a:xfrm>
              <a:off x="0" y="0"/>
              <a:ext cx="3962400" cy="2190900"/>
            </a:xfrm>
            <a:prstGeom prst="roundRect">
              <a:avLst>
                <a:gd fmla="val 3478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228600" y="190500"/>
              <a:ext cx="35052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TEAM MEMBERS</a:t>
              </a:r>
              <a:endParaRPr b="0" sz="120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Anant Kumar Jain (24EARAD011)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Ansh Soni (24EARAD016)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Ashish Kumar Swami (24EARAD024)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Bhavesh Sharma (24EARAD030)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Deepanshu (24EARAD036)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PROJECT GUIDE</a:t>
              </a:r>
              <a:endParaRPr b="0" sz="120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Er. Ram Babu Buri</a:t>
              </a:r>
              <a:endParaRPr b="0" sz="12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15"/>
          <p:cNvGrpSpPr/>
          <p:nvPr/>
        </p:nvGrpSpPr>
        <p:grpSpPr>
          <a:xfrm>
            <a:off x="8162925" y="4229100"/>
            <a:ext cx="847725" cy="657375"/>
            <a:chOff x="8162925" y="4229100"/>
            <a:chExt cx="847725" cy="657375"/>
          </a:xfrm>
        </p:grpSpPr>
        <p:pic>
          <p:nvPicPr>
            <p:cNvPr id="80" name="Google Shape;8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34400" y="45339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896350" y="4229100"/>
              <a:ext cx="1143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2925" y="4829175"/>
              <a:ext cx="573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67738" y="4281488"/>
              <a:ext cx="390600" cy="29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86738" y="4567238"/>
              <a:ext cx="390600" cy="295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Google Shape;85;p15"/>
          <p:cNvSpPr txBox="1"/>
          <p:nvPr/>
        </p:nvSpPr>
        <p:spPr>
          <a:xfrm>
            <a:off x="457200" y="2667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Operational Bottlenecks &amp; Vulnerabilities</a:t>
            </a:r>
            <a:endParaRPr b="1" sz="2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" name="Google Shape;86;p15"/>
          <p:cNvCxnSpPr/>
          <p:nvPr/>
        </p:nvCxnSpPr>
        <p:spPr>
          <a:xfrm>
            <a:off x="457200" y="8001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" name="Google Shape;87;p15"/>
          <p:cNvGrpSpPr/>
          <p:nvPr/>
        </p:nvGrpSpPr>
        <p:grpSpPr>
          <a:xfrm>
            <a:off x="457200" y="952500"/>
            <a:ext cx="8229600" cy="685800"/>
            <a:chOff x="0" y="0"/>
            <a:chExt cx="8229600" cy="6858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8229600" cy="6858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0" y="0"/>
              <a:ext cx="304800" cy="304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228600" y="114300"/>
              <a:ext cx="7772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0" lang="en" sz="1400">
                  <a:solidFill>
                    <a:srgbClr val="0F172A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"Traditional paper-based visitor management causes operational bottlenecks and security vulnerabilities."</a:t>
              </a:r>
              <a:endParaRPr b="0" sz="1400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457200" y="1828800"/>
            <a:ext cx="4000500" cy="2933700"/>
            <a:chOff x="0" y="0"/>
            <a:chExt cx="4000500" cy="29337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4000500" cy="2933700"/>
            </a:xfrm>
            <a:prstGeom prst="roundRect">
              <a:avLst>
                <a:gd fmla="val 2597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0" y="0"/>
              <a:ext cx="57300" cy="29337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228600" y="190500"/>
              <a:ext cx="3543300" cy="25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0284C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Paper Registers &amp; Entry Delays</a:t>
              </a:r>
              <a:endParaRPr b="0" sz="1163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92576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475569"/>
                </a:buClr>
                <a:buSzPts val="1008"/>
                <a:buFont typeface="Inter"/>
                <a:buChar char="●"/>
              </a:pPr>
              <a:r>
                <a:rPr b="0" lang="en" sz="100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Manual Entry Points:</a:t>
              </a:r>
              <a:r>
                <a:rPr b="0" lang="en" sz="100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Relies heavily on handwritten paper logs and manual security intercoms.</a:t>
              </a:r>
              <a:endParaRPr b="0" sz="10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576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8"/>
                <a:buFont typeface="Inter"/>
                <a:buChar char="●"/>
              </a:pPr>
              <a:r>
                <a:rPr b="0" lang="en" sz="100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Peak-Hour Congestion:</a:t>
              </a:r>
              <a:r>
                <a:rPr b="0" lang="en" sz="100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 visitor volume leads to severe queue delays and slow verification processes.</a:t>
              </a:r>
              <a:endParaRPr b="0" sz="10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576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8"/>
                <a:buFont typeface="Inter"/>
                <a:buChar char="●"/>
              </a:pPr>
              <a:r>
                <a:rPr b="0" lang="en" sz="100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Identity Verification Risks:</a:t>
              </a:r>
              <a:r>
                <a:rPr b="0" lang="en" sz="100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Susceptible to forged identities, illegible entries, and unverified credentials.</a:t>
              </a:r>
              <a:endParaRPr b="0" sz="10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576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1008"/>
                <a:buFont typeface="Inter"/>
                <a:buChar char="●"/>
              </a:pPr>
              <a:r>
                <a:rPr b="0" lang="en" sz="100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Temporary Visitor Overhead:</a:t>
              </a:r>
              <a:r>
                <a:rPr b="0" lang="en" sz="100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Managing couriers, contractors, and delivery personnel manually creates severe security gaps.</a:t>
              </a:r>
              <a:endParaRPr b="0" sz="10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4686300" y="1828800"/>
            <a:ext cx="4000500" cy="2933700"/>
            <a:chOff x="0" y="0"/>
            <a:chExt cx="4000500" cy="2933700"/>
          </a:xfrm>
        </p:grpSpPr>
        <p:sp>
          <p:nvSpPr>
            <p:cNvPr id="96" name="Google Shape;96;p15"/>
            <p:cNvSpPr/>
            <p:nvPr/>
          </p:nvSpPr>
          <p:spPr>
            <a:xfrm>
              <a:off x="0" y="0"/>
              <a:ext cx="4000500" cy="2933700"/>
            </a:xfrm>
            <a:prstGeom prst="roundRect">
              <a:avLst>
                <a:gd fmla="val 2597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0" y="0"/>
              <a:ext cx="57300" cy="29337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228600" y="190500"/>
              <a:ext cx="3543300" cy="25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0B9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Occupancy &amp; Audit Vulnerabilities</a:t>
              </a:r>
              <a:endParaRPr b="0" sz="1163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92576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475569"/>
                </a:buClr>
                <a:buSzPts val="1008"/>
                <a:buFont typeface="Inter"/>
                <a:buChar char="●"/>
              </a:pPr>
              <a:r>
                <a:rPr b="0" lang="en" sz="100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Untracked Overstays:</a:t>
              </a:r>
              <a:r>
                <a:rPr b="0" lang="en" sz="100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Zero automated alerts or tracking mechanisms when visitors remain beyond allowed times.</a:t>
              </a:r>
              <a:endParaRPr b="0" sz="10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576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8"/>
                <a:buFont typeface="Inter"/>
                <a:buChar char="●"/>
              </a:pPr>
              <a:r>
                <a:rPr b="0" lang="en" sz="100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 Real-Time Visibility:</a:t>
              </a:r>
              <a:r>
                <a:rPr b="0" lang="en" sz="100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Lacks centralized facility occupancy data during emergency or routine operations.</a:t>
              </a:r>
              <a:endParaRPr b="0" sz="10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576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8"/>
                <a:buFont typeface="Inter"/>
                <a:buChar char="●"/>
              </a:pPr>
              <a:r>
                <a:rPr b="0" lang="en" sz="100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Absence of Digital Audit Trails:</a:t>
              </a:r>
              <a:r>
                <a:rPr b="0" lang="en" sz="100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Historical access records are fragmented, unsearchable, or easily damaged.</a:t>
              </a:r>
              <a:endParaRPr b="0" sz="10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576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1008"/>
                <a:buFont typeface="Inter"/>
                <a:buChar char="●"/>
              </a:pPr>
              <a:r>
                <a:rPr b="0" lang="en" sz="100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Management Complexity:</a:t>
              </a:r>
              <a:r>
                <a:rPr b="0" lang="en" sz="100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Administrative overhead increases exponentially without centralized software control.</a:t>
              </a:r>
              <a:endParaRPr b="0" sz="100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4" name="Google Shape;104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" name="Google Shape;106;p16"/>
            <p:cNvGrpSpPr/>
            <p:nvPr/>
          </p:nvGrpSpPr>
          <p:grpSpPr>
            <a:xfrm>
              <a:off x="8162925" y="4229100"/>
              <a:ext cx="847725" cy="657375"/>
              <a:chOff x="8162925" y="4229100"/>
              <a:chExt cx="847725" cy="657375"/>
            </a:xfrm>
          </p:grpSpPr>
          <p:sp>
            <p:nvSpPr>
              <p:cNvPr id="107" name="Google Shape;107;p16"/>
              <p:cNvSpPr/>
              <p:nvPr/>
            </p:nvSpPr>
            <p:spPr>
              <a:xfrm>
                <a:off x="8534400" y="4533900"/>
                <a:ext cx="76200" cy="76200"/>
              </a:xfrm>
              <a:prstGeom prst="ellipse">
                <a:avLst/>
              </a:prstGeom>
              <a:solidFill>
                <a:srgbClr val="10B981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8896350" y="4229100"/>
                <a:ext cx="114300" cy="114300"/>
              </a:xfrm>
              <a:prstGeom prst="ellipse">
                <a:avLst/>
              </a:prstGeom>
              <a:solidFill>
                <a:srgbClr val="0284C7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8162925" y="4829175"/>
                <a:ext cx="57300" cy="57300"/>
              </a:xfrm>
              <a:prstGeom prst="ellipse">
                <a:avLst/>
              </a:prstGeom>
              <a:solidFill>
                <a:srgbClr val="10B981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0" name="Google Shape;110;p16"/>
              <p:cNvCxnSpPr/>
              <p:nvPr/>
            </p:nvCxnSpPr>
            <p:spPr>
              <a:xfrm flipH="1" rot="10800000">
                <a:off x="8572500" y="4286100"/>
                <a:ext cx="381000" cy="285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6"/>
              <p:cNvCxnSpPr/>
              <p:nvPr/>
            </p:nvCxnSpPr>
            <p:spPr>
              <a:xfrm flipH="1">
                <a:off x="8191500" y="4572000"/>
                <a:ext cx="381000" cy="285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12" name="Google Shape;112;p16"/>
            <p:cNvCxnSpPr/>
            <p:nvPr/>
          </p:nvCxnSpPr>
          <p:spPr>
            <a:xfrm>
              <a:off x="4343400" y="1047750"/>
              <a:ext cx="0" cy="3714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3" name="Google Shape;113;p16"/>
          <p:cNvSpPr txBox="1"/>
          <p:nvPr/>
        </p:nvSpPr>
        <p:spPr>
          <a:xfrm>
            <a:off x="457200" y="26670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 &amp; Tech Stack</a:t>
            </a:r>
            <a:endParaRPr b="1" sz="22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0" lang="en" sz="120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Layered enterprise architecture with robust Java Spring Boot backend</a:t>
            </a:r>
            <a:endParaRPr b="0" sz="120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4" name="Google Shape;114;p16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" name="Google Shape;115;p16"/>
          <p:cNvGrpSpPr/>
          <p:nvPr/>
        </p:nvGrpSpPr>
        <p:grpSpPr>
          <a:xfrm>
            <a:off x="457200" y="1085850"/>
            <a:ext cx="3714900" cy="1047900"/>
            <a:chOff x="0" y="0"/>
            <a:chExt cx="3714900" cy="1047900"/>
          </a:xfrm>
        </p:grpSpPr>
        <p:sp>
          <p:nvSpPr>
            <p:cNvPr id="116" name="Google Shape;116;p16"/>
            <p:cNvSpPr/>
            <p:nvPr/>
          </p:nvSpPr>
          <p:spPr>
            <a:xfrm>
              <a:off x="0" y="0"/>
              <a:ext cx="3714900" cy="1047900"/>
            </a:xfrm>
            <a:prstGeom prst="roundRect">
              <a:avLst>
                <a:gd fmla="val 5454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152400" y="114300"/>
              <a:ext cx="34290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Enterprise Design:</a:t>
              </a:r>
              <a:r>
                <a:rPr b="0"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Separates presentation, security, controller, service, and persistence layers.</a:t>
              </a:r>
              <a:endParaRPr b="0"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Benefits:</a:t>
              </a:r>
              <a:r>
                <a:rPr b="0"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Platform independence, strong type safety, and stateless scan processing for horizontal scalability.</a:t>
              </a:r>
              <a:endParaRPr b="0"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457200" y="2247900"/>
            <a:ext cx="3714900" cy="2514600"/>
            <a:chOff x="0" y="0"/>
            <a:chExt cx="3714900" cy="2514600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3714900" cy="762000"/>
            </a:xfrm>
            <a:prstGeom prst="roundRect">
              <a:avLst>
                <a:gd fmla="val 7500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152400" y="9525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Presentation: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Thymeleaf &amp; Bootstrap 5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Security: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Spring Security &amp; Firebase Auth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1857375" y="762000"/>
              <a:ext cx="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0" y="876300"/>
              <a:ext cx="3714900" cy="762000"/>
            </a:xfrm>
            <a:prstGeom prst="roundRect">
              <a:avLst>
                <a:gd fmla="val 75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152400" y="97155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Stack: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Java 17 &amp; Spring Boot 4.1.1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Logic Layer: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Controller &amp; Service Workflows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857375" y="1638300"/>
              <a:ext cx="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0" y="1752600"/>
              <a:ext cx="3714900" cy="762000"/>
            </a:xfrm>
            <a:prstGeom prst="roundRect">
              <a:avLst>
                <a:gd fmla="val 75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152400" y="184785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Persistence: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Spring Data JPA with Hibernate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Database:</a:t>
              </a: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MySQL 8.0 Engine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4495800" y="1085850"/>
            <a:ext cx="4191000" cy="3657750"/>
            <a:chOff x="0" y="0"/>
            <a:chExt cx="4191000" cy="3657750"/>
          </a:xfrm>
        </p:grpSpPr>
        <p:pic>
          <p:nvPicPr>
            <p:cNvPr id="129" name="Google Shape;129;p16"/>
            <p:cNvPicPr preferRelativeResize="0"/>
            <p:nvPr/>
          </p:nvPicPr>
          <p:blipFill rotWithShape="1">
            <a:blip r:embed="rId3">
              <a:alphaModFix/>
            </a:blip>
            <a:srcRect b="0" l="40" r="50" t="0"/>
            <a:stretch/>
          </p:blipFill>
          <p:spPr>
            <a:xfrm>
              <a:off x="0" y="0"/>
              <a:ext cx="4191000" cy="234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6"/>
            <p:cNvSpPr txBox="1"/>
            <p:nvPr/>
          </p:nvSpPr>
          <p:spPr>
            <a:xfrm>
              <a:off x="0" y="2419350"/>
              <a:ext cx="4191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VAMS End-to-End System Architecture</a:t>
              </a:r>
              <a:endParaRPr b="0" sz="10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Detailed interaction across Presentation, Security, Controller, Service, Persistence, and Database layers.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" name="Google Shape;136;p17"/>
          <p:cNvGrpSpPr/>
          <p:nvPr/>
        </p:nvGrpSpPr>
        <p:grpSpPr>
          <a:xfrm>
            <a:off x="8162925" y="4229100"/>
            <a:ext cx="847725" cy="657375"/>
            <a:chOff x="8162925" y="4229100"/>
            <a:chExt cx="847725" cy="657375"/>
          </a:xfrm>
        </p:grpSpPr>
        <p:sp>
          <p:nvSpPr>
            <p:cNvPr id="137" name="Google Shape;137;p17"/>
            <p:cNvSpPr/>
            <p:nvPr/>
          </p:nvSpPr>
          <p:spPr>
            <a:xfrm>
              <a:off x="8534400" y="4533900"/>
              <a:ext cx="76200" cy="7620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8896350" y="4229100"/>
              <a:ext cx="114300" cy="114300"/>
            </a:xfrm>
            <a:prstGeom prst="ellipse">
              <a:avLst/>
            </a:prstGeom>
            <a:solidFill>
              <a:srgbClr val="0284C7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8162925" y="4829175"/>
              <a:ext cx="57300" cy="5730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" name="Google Shape;140;p17"/>
            <p:cNvCxnSpPr/>
            <p:nvPr/>
          </p:nvCxnSpPr>
          <p:spPr>
            <a:xfrm flipH="1" rot="10800000">
              <a:off x="8572500" y="4286100"/>
              <a:ext cx="38100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17"/>
            <p:cNvCxnSpPr/>
            <p:nvPr/>
          </p:nvCxnSpPr>
          <p:spPr>
            <a:xfrm flipH="1">
              <a:off x="8191500" y="4572000"/>
              <a:ext cx="38100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2" name="Google Shape;142;p17"/>
          <p:cNvSpPr txBox="1"/>
          <p:nvPr/>
        </p:nvSpPr>
        <p:spPr>
          <a:xfrm>
            <a:off x="457200" y="22860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25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VAMS Architecture &amp; Security</a:t>
            </a:r>
            <a:endParaRPr b="0" sz="925">
              <a:solidFill>
                <a:srgbClr val="10B98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2035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Role-Based Access Control (RBAC)</a:t>
            </a:r>
            <a:endParaRPr b="1" sz="2035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450"/>
              </a:spcAft>
              <a:buNone/>
            </a:pPr>
            <a:r>
              <a:rPr b="0" lang="en" sz="1018">
                <a:solidFill>
                  <a:srgbClr val="47556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hierarchical approval workflow ensures secure, role-based access provisioning.</a:t>
            </a:r>
            <a:endParaRPr b="0" sz="1018">
              <a:solidFill>
                <a:srgbClr val="47556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43" name="Google Shape;143;p17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8638" y="1066800"/>
            <a:ext cx="9600" cy="377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7"/>
          <p:cNvGrpSpPr/>
          <p:nvPr/>
        </p:nvGrpSpPr>
        <p:grpSpPr>
          <a:xfrm>
            <a:off x="457200" y="1066800"/>
            <a:ext cx="3657600" cy="1666800"/>
            <a:chOff x="0" y="0"/>
            <a:chExt cx="3657600" cy="1666800"/>
          </a:xfrm>
        </p:grpSpPr>
        <p:sp>
          <p:nvSpPr>
            <p:cNvPr id="146" name="Google Shape;146;p17"/>
            <p:cNvSpPr/>
            <p:nvPr/>
          </p:nvSpPr>
          <p:spPr>
            <a:xfrm>
              <a:off x="0" y="0"/>
              <a:ext cx="3657600" cy="1666800"/>
            </a:xfrm>
            <a:prstGeom prst="roundRect">
              <a:avLst>
                <a:gd fmla="val 457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0" y="0"/>
              <a:ext cx="57300" cy="16668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190500" y="133350"/>
              <a:ext cx="3333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F172A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Role Hierarchy &amp; Governance</a:t>
              </a:r>
              <a:endParaRPr b="0" sz="1203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Owner: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Unrestricted system control. Approves all roles and grants </a:t>
              </a:r>
              <a:r>
                <a:rPr b="0" lang="en" sz="833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RESTRICTED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access.</a:t>
              </a:r>
              <a:endParaRPr b="0"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Manager: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Approved by Owner. Reviews and approves Guest or Employee requests, granting </a:t>
              </a:r>
              <a:r>
                <a:rPr b="0" lang="en" sz="833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PUBLIC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access.</a:t>
              </a:r>
              <a:endParaRPr b="0"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Pending State: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All unapproved users remain blocked until validated.</a:t>
              </a:r>
              <a:endParaRPr b="0"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457200" y="2876550"/>
            <a:ext cx="3657600" cy="1905000"/>
            <a:chOff x="0" y="0"/>
            <a:chExt cx="3657600" cy="1905000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3657600" cy="1905000"/>
            </a:xfrm>
            <a:prstGeom prst="roundRect">
              <a:avLst>
                <a:gd fmla="val 4000" name="adj"/>
              </a:avLst>
            </a:prstGeom>
            <a:solidFill>
              <a:srgbClr val="F0FDF4"/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0" y="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190500" y="133350"/>
              <a:ext cx="33339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F172A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Time-Bound Access Validity</a:t>
              </a:r>
              <a:endParaRPr b="0" sz="1203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Access duration can be precisely configured to enforce time-bound security for temporary staff and visitors:</a:t>
              </a:r>
              <a:endParaRPr b="0"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ONE_DAY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: Single-day access pass for temporary visitors.</a:t>
              </a:r>
              <a:endParaRPr b="0"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UNTIL_LOGOFF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: Active session duration until manual/auto sign-out.</a:t>
              </a:r>
              <a:endParaRPr b="0"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ONGOING</a:t>
              </a: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: Continuous role access for permanent staff.</a:t>
              </a:r>
              <a:endParaRPr b="0"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4572000" y="1066800"/>
            <a:ext cx="4114800" cy="3714900"/>
            <a:chOff x="0" y="0"/>
            <a:chExt cx="4114800" cy="3714900"/>
          </a:xfrm>
        </p:grpSpPr>
        <p:sp>
          <p:nvSpPr>
            <p:cNvPr id="154" name="Google Shape;154;p17"/>
            <p:cNvSpPr/>
            <p:nvPr/>
          </p:nvSpPr>
          <p:spPr>
            <a:xfrm>
              <a:off x="0" y="0"/>
              <a:ext cx="4114800" cy="3714900"/>
            </a:xfrm>
            <a:prstGeom prst="roundRect">
              <a:avLst>
                <a:gd fmla="val 205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0" y="0"/>
              <a:ext cx="4114800" cy="342900"/>
            </a:xfrm>
            <a:prstGeom prst="roundRect">
              <a:avLst>
                <a:gd fmla="val 22222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" name="Google Shape;156;p17"/>
            <p:cNvCxnSpPr/>
            <p:nvPr/>
          </p:nvCxnSpPr>
          <p:spPr>
            <a:xfrm>
              <a:off x="0" y="342900"/>
              <a:ext cx="4114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p17"/>
            <p:cNvSpPr txBox="1"/>
            <p:nvPr/>
          </p:nvSpPr>
          <p:spPr>
            <a:xfrm>
              <a:off x="152400" y="762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Approval &amp; Permission Structure Diagram</a:t>
              </a:r>
              <a:endParaRPr b="0"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158" name="Google Shape;158;p17"/>
            <p:cNvPicPr preferRelativeResize="0"/>
            <p:nvPr/>
          </p:nvPicPr>
          <p:blipFill rotWithShape="1">
            <a:blip r:embed="rId4">
              <a:alphaModFix/>
            </a:blip>
            <a:srcRect b="0" l="60" r="70" t="0"/>
            <a:stretch/>
          </p:blipFill>
          <p:spPr>
            <a:xfrm>
              <a:off x="114300" y="495300"/>
              <a:ext cx="3886200" cy="217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7"/>
            <p:cNvSpPr/>
            <p:nvPr/>
          </p:nvSpPr>
          <p:spPr>
            <a:xfrm>
              <a:off x="114300" y="2781300"/>
              <a:ext cx="3886200" cy="800100"/>
            </a:xfrm>
            <a:prstGeom prst="roundRect">
              <a:avLst>
                <a:gd fmla="val 7142" name="adj"/>
              </a:avLst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228600" y="2857500"/>
              <a:ext cx="36576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Workflow Key:</a:t>
              </a:r>
              <a:endParaRPr b="0" sz="85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0" lang="en" sz="8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Owner</a:t>
              </a:r>
              <a:r>
                <a:rPr b="0" lang="en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 maintains primary authority over Manager, Employee, and Guest roles.</a:t>
              </a:r>
              <a:endParaRPr b="0" sz="8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0" lang="en" sz="85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Manager</a:t>
              </a:r>
              <a:r>
                <a:rPr b="0" lang="en" sz="85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rPr>
                <a:t> acts as delegated approver for lower-tier role requests.</a:t>
              </a:r>
              <a:endParaRPr b="0" sz="8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" name="Google Shape;167;p18"/>
          <p:cNvGrpSpPr/>
          <p:nvPr/>
        </p:nvGrpSpPr>
        <p:grpSpPr>
          <a:xfrm>
            <a:off x="8162925" y="4229100"/>
            <a:ext cx="847725" cy="657375"/>
            <a:chOff x="8162925" y="4229100"/>
            <a:chExt cx="847725" cy="657375"/>
          </a:xfrm>
        </p:grpSpPr>
        <p:sp>
          <p:nvSpPr>
            <p:cNvPr id="168" name="Google Shape;168;p18"/>
            <p:cNvSpPr/>
            <p:nvPr/>
          </p:nvSpPr>
          <p:spPr>
            <a:xfrm>
              <a:off x="8534400" y="4533900"/>
              <a:ext cx="76200" cy="7620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8896350" y="4229100"/>
              <a:ext cx="114300" cy="114300"/>
            </a:xfrm>
            <a:prstGeom prst="ellipse">
              <a:avLst/>
            </a:prstGeom>
            <a:solidFill>
              <a:srgbClr val="0284C7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8162925" y="4829175"/>
              <a:ext cx="57300" cy="5730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" name="Google Shape;171;p18"/>
            <p:cNvCxnSpPr/>
            <p:nvPr/>
          </p:nvCxnSpPr>
          <p:spPr>
            <a:xfrm flipH="1" rot="10800000">
              <a:off x="8572500" y="4286100"/>
              <a:ext cx="38100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18"/>
            <p:cNvCxnSpPr/>
            <p:nvPr/>
          </p:nvCxnSpPr>
          <p:spPr>
            <a:xfrm flipH="1">
              <a:off x="8191500" y="4572000"/>
              <a:ext cx="38100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73" name="Google Shape;173;p18"/>
          <p:cNvCxnSpPr/>
          <p:nvPr/>
        </p:nvCxnSpPr>
        <p:spPr>
          <a:xfrm>
            <a:off x="4286250" y="1047750"/>
            <a:ext cx="0" cy="37149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8"/>
          <p:cNvSpPr txBox="1"/>
          <p:nvPr/>
        </p:nvSpPr>
        <p:spPr>
          <a:xfrm>
            <a:off x="457200" y="266700"/>
            <a:ext cx="8229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QR Token Verification Framework</a:t>
            </a:r>
            <a:endParaRPr b="1" sz="2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600"/>
              </a:spcAft>
              <a:buNone/>
            </a:pPr>
            <a:r>
              <a:rPr b="0" lang="en" sz="1600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Sub-second, multi-gate access control via secure tokens</a:t>
            </a:r>
            <a:endParaRPr b="0" sz="1600">
              <a:solidFill>
                <a:srgbClr val="0284C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75" name="Google Shape;175;p18"/>
          <p:cNvGrpSpPr/>
          <p:nvPr/>
        </p:nvGrpSpPr>
        <p:grpSpPr>
          <a:xfrm>
            <a:off x="457200" y="1047750"/>
            <a:ext cx="3619500" cy="1714500"/>
            <a:chOff x="0" y="0"/>
            <a:chExt cx="3619500" cy="1714500"/>
          </a:xfrm>
        </p:grpSpPr>
        <p:sp>
          <p:nvSpPr>
            <p:cNvPr id="176" name="Google Shape;176;p18"/>
            <p:cNvSpPr/>
            <p:nvPr/>
          </p:nvSpPr>
          <p:spPr>
            <a:xfrm>
              <a:off x="0" y="0"/>
              <a:ext cx="36195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0" y="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190500" y="152400"/>
              <a:ext cx="32766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80">
                  <a:solidFill>
                    <a:srgbClr val="0284C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Token Generation &amp; Scanning</a:t>
              </a:r>
              <a:endParaRPr b="0" sz="980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8194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840"/>
                <a:buFont typeface="Inter"/>
                <a:buChar char="●"/>
              </a:pPr>
              <a:r>
                <a:rPr b="1" lang="en" sz="8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UUID v4 Token:</a:t>
              </a:r>
              <a:r>
                <a:rPr b="0" lang="en" sz="8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System generates a cryptographically random 128-bit UUID v4 upon approval.</a:t>
              </a:r>
              <a:endParaRPr b="0" sz="8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194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840"/>
                <a:buFont typeface="Inter"/>
                <a:buChar char="●"/>
              </a:pPr>
              <a:r>
                <a:rPr b="1" lang="en" sz="8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ZXing Encoding:</a:t>
              </a:r>
              <a:r>
                <a:rPr b="0" lang="en" sz="8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Google ZXing library encodes token into Base64 PNG format.</a:t>
              </a:r>
              <a:endParaRPr b="0" sz="8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194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840"/>
                <a:buFont typeface="Inter"/>
                <a:buChar char="●"/>
              </a:pPr>
              <a:r>
                <a:rPr b="1" lang="en" sz="8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HTML5 Scanning:</a:t>
              </a:r>
              <a:r>
                <a:rPr b="0" lang="en" sz="8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Gate security uses browser-based HTML5 camera scanning to validate tokens.</a:t>
              </a:r>
              <a:endParaRPr b="0" sz="84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9" name="Google Shape;179;p18"/>
          <p:cNvGrpSpPr/>
          <p:nvPr/>
        </p:nvGrpSpPr>
        <p:grpSpPr>
          <a:xfrm>
            <a:off x="457200" y="2914650"/>
            <a:ext cx="3619500" cy="1848000"/>
            <a:chOff x="0" y="0"/>
            <a:chExt cx="3619500" cy="1848000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0"/>
              <a:ext cx="3619500" cy="1848000"/>
            </a:xfrm>
            <a:prstGeom prst="roundRect">
              <a:avLst>
                <a:gd fmla="val 4123" name="adj"/>
              </a:avLst>
            </a:prstGeom>
            <a:solidFill>
              <a:srgbClr val="F0FDF4"/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0"/>
              <a:ext cx="57300" cy="1848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190500" y="152400"/>
              <a:ext cx="32766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5">
                  <a:solidFill>
                    <a:srgbClr val="10B98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Gate Verification &amp; Logic</a:t>
              </a:r>
              <a:endParaRPr b="0" sz="1085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8765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930"/>
                <a:buFont typeface="Inter"/>
                <a:buChar char="●"/>
              </a:pPr>
              <a:r>
                <a:rPr b="1" lang="en" sz="93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Sub-Second Execution:</a:t>
              </a:r>
              <a:r>
                <a:rPr b="0" lang="en" sz="93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Rapid database lookups verify token timestamp validity instantaneously.</a:t>
              </a:r>
              <a:endParaRPr b="0" sz="93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930"/>
                <a:buFont typeface="Inter"/>
                <a:buChar char="●"/>
              </a:pPr>
              <a:r>
                <a:rPr b="1" lang="en" sz="93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Anti-Passback Rules:</a:t>
              </a:r>
              <a:r>
                <a:rPr b="0" lang="en" sz="93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Strictly enforced through an automated ENTRY/EXIT state machine.</a:t>
              </a:r>
              <a:endParaRPr b="0" sz="93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765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475569"/>
                </a:buClr>
                <a:buSzPts val="930"/>
                <a:buFont typeface="Inter"/>
                <a:buChar char="●"/>
              </a:pPr>
              <a:r>
                <a:rPr b="1" lang="en" sz="93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Audit Logging:</a:t>
              </a:r>
              <a:r>
                <a:rPr b="0" lang="en" sz="93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Every scan generates immutable audit logs for complete access traceability.</a:t>
              </a:r>
              <a:endParaRPr b="0" sz="93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20" r="20" t="0"/>
          <a:stretch/>
        </p:blipFill>
        <p:spPr>
          <a:xfrm>
            <a:off x="4476750" y="1714500"/>
            <a:ext cx="4210200" cy="23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19"/>
          <p:cNvGrpSpPr/>
          <p:nvPr/>
        </p:nvGrpSpPr>
        <p:grpSpPr>
          <a:xfrm>
            <a:off x="8258175" y="4324350"/>
            <a:ext cx="752475" cy="609750"/>
            <a:chOff x="8258175" y="4324350"/>
            <a:chExt cx="752475" cy="609750"/>
          </a:xfrm>
        </p:grpSpPr>
        <p:pic>
          <p:nvPicPr>
            <p:cNvPr id="191" name="Google Shape;19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29650" y="462915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896350" y="4324350"/>
              <a:ext cx="1143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258175" y="4876800"/>
              <a:ext cx="573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62988" y="4376738"/>
              <a:ext cx="295200" cy="29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281988" y="4662488"/>
              <a:ext cx="390600" cy="247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19"/>
          <p:cNvSpPr txBox="1"/>
          <p:nvPr/>
        </p:nvSpPr>
        <p:spPr>
          <a:xfrm>
            <a:off x="457200" y="2286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Visitor Management Solution (VAMS)</a:t>
            </a:r>
            <a:endParaRPr b="1" sz="222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750"/>
              </a:spcAft>
              <a:buNone/>
            </a:pPr>
            <a:r>
              <a:rPr b="0" lang="en" sz="1295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Advantages &amp; Technical Considerations</a:t>
            </a:r>
            <a:endParaRPr b="0" sz="1295">
              <a:solidFill>
                <a:srgbClr val="0284C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97" name="Google Shape;197;p19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8" name="Google Shape;198;p19"/>
          <p:cNvGrpSpPr/>
          <p:nvPr/>
        </p:nvGrpSpPr>
        <p:grpSpPr>
          <a:xfrm>
            <a:off x="457200" y="1104900"/>
            <a:ext cx="3962400" cy="3695700"/>
            <a:chOff x="457200" y="1104900"/>
            <a:chExt cx="3962400" cy="3695700"/>
          </a:xfrm>
        </p:grpSpPr>
        <p:sp>
          <p:nvSpPr>
            <p:cNvPr id="199" name="Google Shape;199;p19"/>
            <p:cNvSpPr/>
            <p:nvPr/>
          </p:nvSpPr>
          <p:spPr>
            <a:xfrm>
              <a:off x="457200" y="1104900"/>
              <a:ext cx="3962400" cy="3695700"/>
            </a:xfrm>
            <a:prstGeom prst="roundRect">
              <a:avLst>
                <a:gd fmla="val 2061" name="adj"/>
              </a:avLst>
            </a:prstGeom>
            <a:solidFill>
              <a:srgbClr val="F0FDF4"/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457200" y="1104900"/>
              <a:ext cx="3962400" cy="4191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cubicBezTo>
                    <a:pt x="0" y="9768"/>
                    <a:pt x="1033" y="0"/>
                    <a:pt x="2308" y="0"/>
                  </a:cubicBezTo>
                  <a:lnTo>
                    <a:pt x="117692" y="0"/>
                  </a:lnTo>
                  <a:cubicBezTo>
                    <a:pt x="118304" y="-1"/>
                    <a:pt x="118891" y="2298"/>
                    <a:pt x="119324" y="6389"/>
                  </a:cubicBezTo>
                  <a:cubicBezTo>
                    <a:pt x="119757" y="10481"/>
                    <a:pt x="120000" y="16031"/>
                    <a:pt x="120000" y="21818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609600" y="1181100"/>
              <a:ext cx="3657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ADVANTAGES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647700" y="1676400"/>
              <a:ext cx="35814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Automated Registration &amp; Approvals: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Streamlines visitor entry through automated workflows and strict Manager approvals.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Real-Time Tracking: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Enables live building occupancy tracking and simultaneous multi-gate monitoring across facilities.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Microsecond Audit Logs: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Employs precise DATETIME(6) timestamps to guarantee accurate, tamper-resistant audit trails.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Paperless Efficiency: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Significantly reduces manual paperwork while enhancing perimeter security.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3" name="Google Shape;203;p19"/>
          <p:cNvGrpSpPr/>
          <p:nvPr/>
        </p:nvGrpSpPr>
        <p:grpSpPr>
          <a:xfrm>
            <a:off x="4724400" y="1104900"/>
            <a:ext cx="3962400" cy="3695700"/>
            <a:chOff x="4724400" y="1104900"/>
            <a:chExt cx="3962400" cy="3695700"/>
          </a:xfrm>
        </p:grpSpPr>
        <p:sp>
          <p:nvSpPr>
            <p:cNvPr id="204" name="Google Shape;204;p19"/>
            <p:cNvSpPr/>
            <p:nvPr/>
          </p:nvSpPr>
          <p:spPr>
            <a:xfrm>
              <a:off x="4724400" y="1104900"/>
              <a:ext cx="3962400" cy="3695700"/>
            </a:xfrm>
            <a:prstGeom prst="roundRect">
              <a:avLst>
                <a:gd fmla="val 2061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4724400" y="1104900"/>
              <a:ext cx="3962400" cy="4191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cubicBezTo>
                    <a:pt x="0" y="9768"/>
                    <a:pt x="1033" y="0"/>
                    <a:pt x="2308" y="0"/>
                  </a:cubicBezTo>
                  <a:lnTo>
                    <a:pt x="117692" y="0"/>
                  </a:lnTo>
                  <a:cubicBezTo>
                    <a:pt x="118304" y="-1"/>
                    <a:pt x="118891" y="2298"/>
                    <a:pt x="119324" y="6389"/>
                  </a:cubicBezTo>
                  <a:cubicBezTo>
                    <a:pt x="119757" y="10481"/>
                    <a:pt x="120000" y="16031"/>
                    <a:pt x="120000" y="21818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4876800" y="1181100"/>
              <a:ext cx="3657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TECHNICAL CONSIDERATIONS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4914900" y="1676400"/>
              <a:ext cx="35814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Network Dependency: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Requires continuous network connectivity for real-time validation and cross-gate synchronization.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Hardware Prerequisites: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Dependent on dedicated, camera-equipped scanning devices deployed at all designated entry points.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Operational Continuity:</a:t>
              </a: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Fallback procedures must be established to handle temporary network disconnections or hardware maintenance.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0"/>
          <p:cNvGrpSpPr/>
          <p:nvPr/>
        </p:nvGrpSpPr>
        <p:grpSpPr>
          <a:xfrm>
            <a:off x="8162925" y="4229100"/>
            <a:ext cx="847725" cy="657375"/>
            <a:chOff x="8162925" y="4229100"/>
            <a:chExt cx="847725" cy="657375"/>
          </a:xfrm>
        </p:grpSpPr>
        <p:pic>
          <p:nvPicPr>
            <p:cNvPr id="214" name="Google Shape;214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34400" y="45339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896350" y="4229100"/>
              <a:ext cx="11430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2925" y="4829175"/>
              <a:ext cx="573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567738" y="4281488"/>
              <a:ext cx="390600" cy="29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86738" y="4567238"/>
              <a:ext cx="390600" cy="295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0"/>
          <p:cNvSpPr txBox="1"/>
          <p:nvPr/>
        </p:nvSpPr>
        <p:spPr>
          <a:xfrm>
            <a:off x="457200" y="2286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22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3-Tier Visitor &amp; Access Management System (VAMS)</a:t>
            </a:r>
            <a:endParaRPr b="1" sz="222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0" name="Google Shape;220;p20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0"/>
          <p:cNvCxnSpPr/>
          <p:nvPr/>
        </p:nvCxnSpPr>
        <p:spPr>
          <a:xfrm>
            <a:off x="4419600" y="1047750"/>
            <a:ext cx="0" cy="37149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2" name="Google Shape;222;p20"/>
          <p:cNvGrpSpPr/>
          <p:nvPr/>
        </p:nvGrpSpPr>
        <p:grpSpPr>
          <a:xfrm>
            <a:off x="457200" y="1047750"/>
            <a:ext cx="3733800" cy="3714900"/>
            <a:chOff x="457200" y="1047750"/>
            <a:chExt cx="3733800" cy="3714900"/>
          </a:xfrm>
        </p:grpSpPr>
        <p:sp>
          <p:nvSpPr>
            <p:cNvPr id="223" name="Google Shape;223;p20"/>
            <p:cNvSpPr/>
            <p:nvPr/>
          </p:nvSpPr>
          <p:spPr>
            <a:xfrm>
              <a:off x="457200" y="1047750"/>
              <a:ext cx="3733800" cy="3714900"/>
            </a:xfrm>
            <a:prstGeom prst="roundRect">
              <a:avLst>
                <a:gd fmla="val 2051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457200" y="1047750"/>
              <a:ext cx="57300" cy="37149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685800" y="1219200"/>
              <a:ext cx="3314700" cy="33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System Overview</a:t>
              </a:r>
              <a:endParaRPr b="0" sz="925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80">
                  <a:solidFill>
                    <a:srgbClr val="0F172A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Centralized Digital Access</a:t>
              </a:r>
              <a:endParaRPr b="0" sz="1480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VAMS replaces manual paper registers with a secure, centralized digital solution designed to regulate building entry and exit.</a:t>
              </a:r>
              <a:endParaRPr b="0" sz="111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3-Level Structure</a:t>
              </a:r>
              <a:endParaRPr b="0" sz="925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Operates across </a:t>
              </a:r>
              <a:r>
                <a:rPr b="0" lang="en" sz="111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Owner</a:t>
              </a: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" sz="111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Manager</a:t>
              </a: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and </a:t>
              </a:r>
              <a:r>
                <a:rPr b="0" lang="en" sz="111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Client/User</a:t>
              </a: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roles to enforce role-based access for Public or Restricted areas.</a:t>
              </a:r>
              <a:endParaRPr b="0" sz="111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Capabilities</a:t>
              </a:r>
              <a:endParaRPr b="0" sz="925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908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110"/>
                <a:buFont typeface="Inter"/>
                <a:buChar char="●"/>
              </a:pP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Automated visitor registration</a:t>
              </a:r>
              <a:endParaRPr b="0" sz="111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908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10"/>
                <a:buFont typeface="Inter"/>
                <a:buChar char="●"/>
              </a:pP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Hierarchical approval workflows</a:t>
              </a:r>
              <a:endParaRPr b="0" sz="111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908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110"/>
                <a:buFont typeface="Inter"/>
                <a:buChar char="●"/>
              </a:pP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Precise entry and exit tracking</a:t>
              </a:r>
              <a:endParaRPr b="0" sz="111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Technology Stack</a:t>
              </a:r>
              <a:endParaRPr b="0" sz="925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b="0" lang="en" sz="925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Java 17</a:t>
              </a: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925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Spring Boot</a:t>
              </a:r>
              <a:r>
                <a:rPr b="0" lang="en" sz="111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" sz="925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MySQL</a:t>
              </a:r>
              <a:endParaRPr b="0" sz="111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4572000" y="1638300"/>
            <a:ext cx="4114800" cy="3000375"/>
            <a:chOff x="4572000" y="1638300"/>
            <a:chExt cx="4114800" cy="3000375"/>
          </a:xfrm>
        </p:grpSpPr>
        <p:pic>
          <p:nvPicPr>
            <p:cNvPr id="227" name="Google Shape;227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72000" y="1638300"/>
              <a:ext cx="4114800" cy="23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0"/>
            <p:cNvSpPr txBox="1"/>
            <p:nvPr/>
          </p:nvSpPr>
          <p:spPr>
            <a:xfrm>
              <a:off x="4572000" y="4067175"/>
              <a:ext cx="411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Digital Kiosk &amp; Gate Control</a:t>
              </a:r>
              <a:endParaRPr b="0" sz="10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60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Automated QR registration &amp; role-based access validation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21"/>
          <p:cNvGrpSpPr/>
          <p:nvPr/>
        </p:nvGrpSpPr>
        <p:grpSpPr>
          <a:xfrm>
            <a:off x="8162925" y="4229100"/>
            <a:ext cx="847725" cy="657375"/>
            <a:chOff x="8162925" y="4229100"/>
            <a:chExt cx="847725" cy="657375"/>
          </a:xfrm>
        </p:grpSpPr>
        <p:sp>
          <p:nvSpPr>
            <p:cNvPr id="235" name="Google Shape;235;p21"/>
            <p:cNvSpPr/>
            <p:nvPr/>
          </p:nvSpPr>
          <p:spPr>
            <a:xfrm>
              <a:off x="8534400" y="4533900"/>
              <a:ext cx="76200" cy="7620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8896350" y="4229100"/>
              <a:ext cx="114300" cy="114300"/>
            </a:xfrm>
            <a:prstGeom prst="ellipse">
              <a:avLst/>
            </a:prstGeom>
            <a:solidFill>
              <a:srgbClr val="0284C7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8162925" y="4829175"/>
              <a:ext cx="57300" cy="57300"/>
            </a:xfrm>
            <a:prstGeom prst="ellipse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8" name="Google Shape;238;p21"/>
            <p:cNvCxnSpPr/>
            <p:nvPr/>
          </p:nvCxnSpPr>
          <p:spPr>
            <a:xfrm flipH="1" rot="10800000">
              <a:off x="8572500" y="4286100"/>
              <a:ext cx="38100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21"/>
            <p:cNvCxnSpPr/>
            <p:nvPr/>
          </p:nvCxnSpPr>
          <p:spPr>
            <a:xfrm flipH="1">
              <a:off x="8191500" y="4572000"/>
              <a:ext cx="381000" cy="285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40" name="Google Shape;240;p21"/>
          <p:cNvCxnSpPr/>
          <p:nvPr/>
        </p:nvCxnSpPr>
        <p:spPr>
          <a:xfrm>
            <a:off x="457200" y="8763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21"/>
          <p:cNvCxnSpPr/>
          <p:nvPr/>
        </p:nvCxnSpPr>
        <p:spPr>
          <a:xfrm>
            <a:off x="4419600" y="1066800"/>
            <a:ext cx="0" cy="36957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21"/>
          <p:cNvSpPr txBox="1"/>
          <p:nvPr/>
        </p:nvSpPr>
        <p:spPr>
          <a:xfrm>
            <a:off x="457200" y="1905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EVALUATION &amp; QUALITY ASSURANCE</a:t>
            </a:r>
            <a:endParaRPr b="0" sz="1000">
              <a:solidFill>
                <a:srgbClr val="0284C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450"/>
              </a:spcAft>
              <a:buNone/>
            </a:pPr>
            <a:r>
              <a:rPr b="1" lang="en" sz="2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System Testing &amp; Performance Verification</a:t>
            </a:r>
            <a:endParaRPr b="1" sz="22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3" name="Google Shape;243;p21"/>
          <p:cNvGrpSpPr/>
          <p:nvPr/>
        </p:nvGrpSpPr>
        <p:grpSpPr>
          <a:xfrm>
            <a:off x="457200" y="1066800"/>
            <a:ext cx="3733800" cy="1371600"/>
            <a:chOff x="0" y="0"/>
            <a:chExt cx="3733800" cy="1371600"/>
          </a:xfrm>
        </p:grpSpPr>
        <p:sp>
          <p:nvSpPr>
            <p:cNvPr id="244" name="Google Shape;244;p21"/>
            <p:cNvSpPr/>
            <p:nvPr/>
          </p:nvSpPr>
          <p:spPr>
            <a:xfrm>
              <a:off x="0" y="0"/>
              <a:ext cx="3733800" cy="1371600"/>
            </a:xfrm>
            <a:prstGeom prst="roundRect">
              <a:avLst>
                <a:gd fmla="val 6944" name="adj"/>
              </a:avLst>
            </a:prstGeom>
            <a:solidFill>
              <a:srgbClr val="F0FDF4"/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0" y="0"/>
              <a:ext cx="76200" cy="13716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228600" y="152400"/>
              <a:ext cx="33147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08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100%</a:t>
              </a:r>
              <a:endParaRPr b="1" sz="408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PASS RATE ACROSS ALL MODULES</a:t>
              </a:r>
              <a:endParaRPr b="0" sz="93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45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Validated across 24 rigorous automated &amp; manual test cases</a:t>
              </a:r>
              <a:endParaRPr b="0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7" name="Google Shape;247;p21"/>
          <p:cNvGrpSpPr/>
          <p:nvPr/>
        </p:nvGrpSpPr>
        <p:grpSpPr>
          <a:xfrm>
            <a:off x="457200" y="2590800"/>
            <a:ext cx="3733800" cy="2133600"/>
            <a:chOff x="0" y="0"/>
            <a:chExt cx="3733800" cy="2133600"/>
          </a:xfrm>
        </p:grpSpPr>
        <p:sp>
          <p:nvSpPr>
            <p:cNvPr id="248" name="Google Shape;248;p21"/>
            <p:cNvSpPr/>
            <p:nvPr/>
          </p:nvSpPr>
          <p:spPr>
            <a:xfrm>
              <a:off x="0" y="0"/>
              <a:ext cx="3733800" cy="2133600"/>
            </a:xfrm>
            <a:prstGeom prst="roundRect">
              <a:avLst>
                <a:gd fmla="val 4464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0" y="0"/>
              <a:ext cx="57300" cy="21336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228600" y="190500"/>
              <a:ext cx="32766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0F172A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Comprehensive Test Scope</a:t>
              </a:r>
              <a:endParaRPr b="0" sz="1203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Rigorous evaluation executed across four core testing tiers to ensure enterprise reliability:</a:t>
              </a:r>
              <a:endParaRPr b="0"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Inter"/>
                <a:buChar char="●"/>
              </a:pPr>
              <a:r>
                <a:rPr b="0" lang="en" sz="971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Unit &amp; Integration:</a:t>
              </a:r>
              <a:r>
                <a:rPr b="0"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Core logic &amp; API workflows</a:t>
              </a:r>
              <a:endParaRPr b="0"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Inter"/>
                <a:buChar char="●"/>
              </a:pPr>
              <a:r>
                <a:rPr b="0" lang="en" sz="971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Functional Testing:</a:t>
              </a:r>
              <a:r>
                <a:rPr b="0"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Registration &amp; Authorization</a:t>
              </a:r>
              <a:endParaRPr b="0"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18"/>
                <a:buFont typeface="Inter"/>
                <a:buChar char="●"/>
              </a:pPr>
              <a:r>
                <a:rPr b="0" lang="en" sz="971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Security &amp; Validation:</a:t>
              </a:r>
              <a:r>
                <a:rPr b="0"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QR validation &amp; access control</a:t>
              </a:r>
              <a:endParaRPr b="0"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18"/>
                <a:buFont typeface="Inter"/>
                <a:buChar char="●"/>
              </a:pPr>
              <a:r>
                <a:rPr b="0" lang="en" sz="971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Concurrency:</a:t>
              </a:r>
              <a:r>
                <a:rPr b="0" lang="en" sz="97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Multi-gate simultaneous load</a:t>
              </a:r>
              <a:endParaRPr b="0" sz="97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1" name="Google Shape;251;p21"/>
          <p:cNvSpPr txBox="1"/>
          <p:nvPr/>
        </p:nvSpPr>
        <p:spPr>
          <a:xfrm>
            <a:off x="4724400" y="1066800"/>
            <a:ext cx="3962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0" lang="en" sz="1400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Performance Metrics &amp; Benchmarks</a:t>
            </a:r>
            <a:endParaRPr b="0" sz="1400">
              <a:solidFill>
                <a:srgbClr val="0F172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52" name="Google Shape;252;p21"/>
          <p:cNvGrpSpPr/>
          <p:nvPr/>
        </p:nvGrpSpPr>
        <p:grpSpPr>
          <a:xfrm>
            <a:off x="4724400" y="1409700"/>
            <a:ext cx="3962400" cy="990600"/>
            <a:chOff x="0" y="0"/>
            <a:chExt cx="3962400" cy="990600"/>
          </a:xfrm>
        </p:grpSpPr>
        <p:sp>
          <p:nvSpPr>
            <p:cNvPr id="253" name="Google Shape;253;p21"/>
            <p:cNvSpPr/>
            <p:nvPr/>
          </p:nvSpPr>
          <p:spPr>
            <a:xfrm>
              <a:off x="0" y="0"/>
              <a:ext cx="3962400" cy="9906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0" y="0"/>
              <a:ext cx="47700" cy="9906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5" name="Google Shape;255;p21"/>
            <p:cNvGrpSpPr/>
            <p:nvPr/>
          </p:nvGrpSpPr>
          <p:grpSpPr>
            <a:xfrm>
              <a:off x="190500" y="190500"/>
              <a:ext cx="190500" cy="190500"/>
              <a:chOff x="0" y="0"/>
              <a:chExt cx="190500" cy="190500"/>
            </a:xfrm>
          </p:grpSpPr>
          <p:sp>
            <p:nvSpPr>
              <p:cNvPr id="256" name="Google Shape;256;p21"/>
              <p:cNvSpPr/>
              <p:nvPr/>
            </p:nvSpPr>
            <p:spPr>
              <a:xfrm>
                <a:off x="0" y="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>
                <a:off x="114300" y="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0" y="11430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1"/>
              <p:cNvSpPr/>
              <p:nvPr/>
            </p:nvSpPr>
            <p:spPr>
              <a:xfrm>
                <a:off x="114300" y="11430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1"/>
              <p:cNvSpPr/>
              <p:nvPr/>
            </p:nvSpPr>
            <p:spPr>
              <a:xfrm>
                <a:off x="19050" y="190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1"/>
              <p:cNvSpPr/>
              <p:nvPr/>
            </p:nvSpPr>
            <p:spPr>
              <a:xfrm>
                <a:off x="133350" y="190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1"/>
              <p:cNvSpPr/>
              <p:nvPr/>
            </p:nvSpPr>
            <p:spPr>
              <a:xfrm>
                <a:off x="19050" y="1333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3" name="Google Shape;263;p21"/>
            <p:cNvSpPr txBox="1"/>
            <p:nvPr/>
          </p:nvSpPr>
          <p:spPr>
            <a:xfrm>
              <a:off x="457200" y="133350"/>
              <a:ext cx="33528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&lt;180ms Gate Verification Latency</a:t>
              </a:r>
              <a:endParaRPr b="0" sz="13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Average gate verification response times consistently measured under 180 milliseconds during live test cycles.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4" name="Google Shape;264;p21"/>
          <p:cNvGrpSpPr/>
          <p:nvPr/>
        </p:nvGrpSpPr>
        <p:grpSpPr>
          <a:xfrm>
            <a:off x="4724400" y="2552700"/>
            <a:ext cx="3962400" cy="990600"/>
            <a:chOff x="0" y="0"/>
            <a:chExt cx="3962400" cy="990600"/>
          </a:xfrm>
        </p:grpSpPr>
        <p:sp>
          <p:nvSpPr>
            <p:cNvPr id="265" name="Google Shape;265;p21"/>
            <p:cNvSpPr/>
            <p:nvPr/>
          </p:nvSpPr>
          <p:spPr>
            <a:xfrm>
              <a:off x="0" y="0"/>
              <a:ext cx="3962400" cy="990600"/>
            </a:xfrm>
            <a:prstGeom prst="roundRect">
              <a:avLst>
                <a:gd fmla="val 7692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0" y="0"/>
              <a:ext cx="47700" cy="990600"/>
            </a:xfrm>
            <a:prstGeom prst="roundRect">
              <a:avLst>
                <a:gd fmla="val 4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" name="Google Shape;267;p21"/>
            <p:cNvGrpSpPr/>
            <p:nvPr/>
          </p:nvGrpSpPr>
          <p:grpSpPr>
            <a:xfrm>
              <a:off x="190500" y="190500"/>
              <a:ext cx="190500" cy="190500"/>
              <a:chOff x="0" y="0"/>
              <a:chExt cx="190500" cy="190500"/>
            </a:xfrm>
          </p:grpSpPr>
          <p:sp>
            <p:nvSpPr>
              <p:cNvPr id="268" name="Google Shape;268;p21"/>
              <p:cNvSpPr/>
              <p:nvPr/>
            </p:nvSpPr>
            <p:spPr>
              <a:xfrm>
                <a:off x="0" y="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1"/>
              <p:cNvSpPr/>
              <p:nvPr/>
            </p:nvSpPr>
            <p:spPr>
              <a:xfrm>
                <a:off x="114300" y="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1"/>
              <p:cNvSpPr/>
              <p:nvPr/>
            </p:nvSpPr>
            <p:spPr>
              <a:xfrm>
                <a:off x="0" y="11430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1"/>
              <p:cNvSpPr/>
              <p:nvPr/>
            </p:nvSpPr>
            <p:spPr>
              <a:xfrm>
                <a:off x="114300" y="11430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19050" y="190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>
                <a:off x="133350" y="190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>
                <a:off x="19050" y="1333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5" name="Google Shape;275;p21"/>
            <p:cNvSpPr txBox="1"/>
            <p:nvPr/>
          </p:nvSpPr>
          <p:spPr>
            <a:xfrm>
              <a:off x="457200" y="133350"/>
              <a:ext cx="33528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Zero Concurrency Anomalies</a:t>
              </a:r>
              <a:endParaRPr b="0" sz="130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Zero race conditions or access anomalies recorded during heavy simultaneous multi-gate access operations.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4724400" y="3695700"/>
            <a:ext cx="3962400" cy="1028700"/>
            <a:chOff x="0" y="0"/>
            <a:chExt cx="3962400" cy="1028700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3962400" cy="1028700"/>
            </a:xfrm>
            <a:prstGeom prst="roundRect">
              <a:avLst>
                <a:gd fmla="val 7407" name="adj"/>
              </a:avLst>
            </a:prstGeom>
            <a:solidFill>
              <a:srgbClr val="F0FDF4"/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0" y="0"/>
              <a:ext cx="47700" cy="1028700"/>
            </a:xfrm>
            <a:prstGeom prst="roundRect">
              <a:avLst>
                <a:gd fmla="val 4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9" name="Google Shape;279;p21"/>
            <p:cNvGrpSpPr/>
            <p:nvPr/>
          </p:nvGrpSpPr>
          <p:grpSpPr>
            <a:xfrm>
              <a:off x="190500" y="190500"/>
              <a:ext cx="190500" cy="190500"/>
              <a:chOff x="0" y="0"/>
              <a:chExt cx="190500" cy="190500"/>
            </a:xfrm>
          </p:grpSpPr>
          <p:sp>
            <p:nvSpPr>
              <p:cNvPr id="280" name="Google Shape;280;p21"/>
              <p:cNvSpPr/>
              <p:nvPr/>
            </p:nvSpPr>
            <p:spPr>
              <a:xfrm>
                <a:off x="0" y="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1"/>
              <p:cNvSpPr/>
              <p:nvPr/>
            </p:nvSpPr>
            <p:spPr>
              <a:xfrm>
                <a:off x="114300" y="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>
                <a:off x="0" y="11430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1"/>
              <p:cNvSpPr/>
              <p:nvPr/>
            </p:nvSpPr>
            <p:spPr>
              <a:xfrm>
                <a:off x="114300" y="114300"/>
                <a:ext cx="76200" cy="76200"/>
              </a:xfrm>
              <a:prstGeom prst="roundRect">
                <a:avLst>
                  <a:gd fmla="val 125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1"/>
              <p:cNvSpPr/>
              <p:nvPr/>
            </p:nvSpPr>
            <p:spPr>
              <a:xfrm>
                <a:off x="19050" y="190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1"/>
              <p:cNvSpPr/>
              <p:nvPr/>
            </p:nvSpPr>
            <p:spPr>
              <a:xfrm>
                <a:off x="133350" y="190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>
                <a:off x="19050" y="133350"/>
                <a:ext cx="38100" cy="38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7" name="Google Shape;287;p21"/>
            <p:cNvSpPr txBox="1"/>
            <p:nvPr/>
          </p:nvSpPr>
          <p:spPr>
            <a:xfrm>
              <a:off x="457200" y="133350"/>
              <a:ext cx="3352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Production &amp; Enterprise Readiness</a:t>
              </a:r>
              <a:endParaRPr b="0" sz="13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450"/>
                </a:spcAft>
                <a:buNone/>
              </a:pPr>
              <a:r>
                <a:rPr b="0" lang="en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System architecture demonstrates high stability, low latency, and robustness necessary for enterprise deployment.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93" name="Google Shape;293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5" name="Google Shape;295;p22"/>
            <p:cNvGrpSpPr/>
            <p:nvPr/>
          </p:nvGrpSpPr>
          <p:grpSpPr>
            <a:xfrm>
              <a:off x="8162925" y="4229100"/>
              <a:ext cx="847725" cy="657375"/>
              <a:chOff x="8162925" y="4229100"/>
              <a:chExt cx="847725" cy="657375"/>
            </a:xfrm>
          </p:grpSpPr>
          <p:sp>
            <p:nvSpPr>
              <p:cNvPr id="296" name="Google Shape;296;p22"/>
              <p:cNvSpPr/>
              <p:nvPr/>
            </p:nvSpPr>
            <p:spPr>
              <a:xfrm>
                <a:off x="8534400" y="4533900"/>
                <a:ext cx="76200" cy="76200"/>
              </a:xfrm>
              <a:prstGeom prst="ellipse">
                <a:avLst/>
              </a:prstGeom>
              <a:solidFill>
                <a:srgbClr val="10B981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2"/>
              <p:cNvSpPr/>
              <p:nvPr/>
            </p:nvSpPr>
            <p:spPr>
              <a:xfrm>
                <a:off x="8896350" y="4229100"/>
                <a:ext cx="114300" cy="114300"/>
              </a:xfrm>
              <a:prstGeom prst="ellipse">
                <a:avLst/>
              </a:prstGeom>
              <a:solidFill>
                <a:srgbClr val="0284C7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2"/>
              <p:cNvSpPr/>
              <p:nvPr/>
            </p:nvSpPr>
            <p:spPr>
              <a:xfrm>
                <a:off x="8162925" y="4829175"/>
                <a:ext cx="57300" cy="57300"/>
              </a:xfrm>
              <a:prstGeom prst="ellipse">
                <a:avLst/>
              </a:prstGeom>
              <a:solidFill>
                <a:srgbClr val="10B981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9" name="Google Shape;299;p22"/>
              <p:cNvCxnSpPr/>
              <p:nvPr/>
            </p:nvCxnSpPr>
            <p:spPr>
              <a:xfrm flipH="1" rot="10800000">
                <a:off x="8572500" y="4286100"/>
                <a:ext cx="381000" cy="285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0" name="Google Shape;300;p22"/>
              <p:cNvCxnSpPr/>
              <p:nvPr/>
            </p:nvCxnSpPr>
            <p:spPr>
              <a:xfrm flipH="1">
                <a:off x="8191500" y="4572000"/>
                <a:ext cx="381000" cy="2859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301" name="Google Shape;301;p22"/>
            <p:cNvCxnSpPr/>
            <p:nvPr/>
          </p:nvCxnSpPr>
          <p:spPr>
            <a:xfrm>
              <a:off x="4419600" y="1047750"/>
              <a:ext cx="0" cy="3714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2" name="Google Shape;302;p22"/>
          <p:cNvGrpSpPr/>
          <p:nvPr/>
        </p:nvGrpSpPr>
        <p:grpSpPr>
          <a:xfrm>
            <a:off x="457200" y="266700"/>
            <a:ext cx="8229600" cy="685800"/>
            <a:chOff x="457200" y="266700"/>
            <a:chExt cx="8229600" cy="685800"/>
          </a:xfrm>
        </p:grpSpPr>
        <p:sp>
          <p:nvSpPr>
            <p:cNvPr id="303" name="Google Shape;303;p22"/>
            <p:cNvSpPr txBox="1"/>
            <p:nvPr/>
          </p:nvSpPr>
          <p:spPr>
            <a:xfrm>
              <a:off x="457200" y="266700"/>
              <a:ext cx="8229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Scalable Foundation &amp; Future Enhancements</a:t>
              </a:r>
              <a:endParaRPr b="1" sz="2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400">
                  <a:solidFill>
                    <a:srgbClr val="0284C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Biometric, Cloud, and Hardware Integrations</a:t>
              </a:r>
              <a:endParaRPr b="0" sz="1400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cxnSp>
          <p:nvCxnSpPr>
            <p:cNvPr id="304" name="Google Shape;304;p22"/>
            <p:cNvCxnSpPr/>
            <p:nvPr/>
          </p:nvCxnSpPr>
          <p:spPr>
            <a:xfrm>
              <a:off x="457200" y="95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05" name="Google Shape;305;p22"/>
          <p:cNvGrpSpPr/>
          <p:nvPr/>
        </p:nvGrpSpPr>
        <p:grpSpPr>
          <a:xfrm>
            <a:off x="457200" y="1104900"/>
            <a:ext cx="3733800" cy="3124200"/>
            <a:chOff x="0" y="0"/>
            <a:chExt cx="3733800" cy="3124200"/>
          </a:xfrm>
        </p:grpSpPr>
        <p:grpSp>
          <p:nvGrpSpPr>
            <p:cNvPr id="306" name="Google Shape;306;p22"/>
            <p:cNvGrpSpPr/>
            <p:nvPr/>
          </p:nvGrpSpPr>
          <p:grpSpPr>
            <a:xfrm>
              <a:off x="0" y="0"/>
              <a:ext cx="3733800" cy="914400"/>
              <a:chOff x="0" y="0"/>
              <a:chExt cx="3733800" cy="914400"/>
            </a:xfrm>
          </p:grpSpPr>
          <p:sp>
            <p:nvSpPr>
              <p:cNvPr id="307" name="Google Shape;307;p22"/>
              <p:cNvSpPr/>
              <p:nvPr/>
            </p:nvSpPr>
            <p:spPr>
              <a:xfrm>
                <a:off x="0" y="0"/>
                <a:ext cx="3733800" cy="914400"/>
              </a:xfrm>
              <a:prstGeom prst="roundRect">
                <a:avLst>
                  <a:gd fmla="val 6250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2"/>
              <p:cNvSpPr/>
              <p:nvPr/>
            </p:nvSpPr>
            <p:spPr>
              <a:xfrm>
                <a:off x="0" y="0"/>
                <a:ext cx="47700" cy="914400"/>
              </a:xfrm>
              <a:prstGeom prst="roundRect">
                <a:avLst>
                  <a:gd fmla="val 4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22"/>
              <p:cNvSpPr txBox="1"/>
              <p:nvPr/>
            </p:nvSpPr>
            <p:spPr>
              <a:xfrm>
                <a:off x="152400" y="114300"/>
                <a:ext cx="34290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25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System Evolution</a:t>
                </a:r>
                <a:endParaRPr b="0" sz="925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VAMS successfully replaces manual logs with a secure, centralized digital platform, establishing a robust framework for next-generation security upgrades.</a:t>
                </a:r>
                <a:endParaRPr b="0" sz="97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0" name="Google Shape;310;p22"/>
            <p:cNvGrpSpPr/>
            <p:nvPr/>
          </p:nvGrpSpPr>
          <p:grpSpPr>
            <a:xfrm>
              <a:off x="0" y="1066800"/>
              <a:ext cx="3733800" cy="2057400"/>
              <a:chOff x="0" y="0"/>
              <a:chExt cx="3733800" cy="2057400"/>
            </a:xfrm>
          </p:grpSpPr>
          <p:sp>
            <p:nvSpPr>
              <p:cNvPr id="311" name="Google Shape;311;p22"/>
              <p:cNvSpPr txBox="1"/>
              <p:nvPr/>
            </p:nvSpPr>
            <p:spPr>
              <a:xfrm>
                <a:off x="0" y="0"/>
                <a:ext cx="3733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b="0" lang="en" sz="1200">
                    <a:solidFill>
                      <a:srgbClr val="0284C7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Planned Enhancements</a:t>
                </a:r>
                <a:endParaRPr b="0" sz="1200">
                  <a:solidFill>
                    <a:srgbClr val="0284C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grpSp>
            <p:nvGrpSpPr>
              <p:cNvPr id="312" name="Google Shape;312;p22"/>
              <p:cNvGrpSpPr/>
              <p:nvPr/>
            </p:nvGrpSpPr>
            <p:grpSpPr>
              <a:xfrm>
                <a:off x="0" y="304800"/>
                <a:ext cx="3733800" cy="1752600"/>
                <a:chOff x="0" y="0"/>
                <a:chExt cx="3733800" cy="1752600"/>
              </a:xfrm>
            </p:grpSpPr>
            <p:grpSp>
              <p:nvGrpSpPr>
                <p:cNvPr id="313" name="Google Shape;313;p22"/>
                <p:cNvGrpSpPr/>
                <p:nvPr/>
              </p:nvGrpSpPr>
              <p:grpSpPr>
                <a:xfrm>
                  <a:off x="0" y="0"/>
                  <a:ext cx="3733800" cy="495300"/>
                  <a:chOff x="0" y="0"/>
                  <a:chExt cx="3733800" cy="495300"/>
                </a:xfrm>
              </p:grpSpPr>
              <p:grpSp>
                <p:nvGrpSpPr>
                  <p:cNvPr id="314" name="Google Shape;314;p22"/>
                  <p:cNvGrpSpPr/>
                  <p:nvPr/>
                </p:nvGrpSpPr>
                <p:grpSpPr>
                  <a:xfrm>
                    <a:off x="0" y="19050"/>
                    <a:ext cx="190500" cy="190500"/>
                    <a:chOff x="0" y="0"/>
                    <a:chExt cx="190500" cy="190500"/>
                  </a:xfrm>
                </p:grpSpPr>
                <p:sp>
                  <p:nvSpPr>
                    <p:cNvPr id="315" name="Google Shape;315;p22"/>
                    <p:cNvSpPr/>
                    <p:nvPr/>
                  </p:nvSpPr>
                  <p:spPr>
                    <a:xfrm>
                      <a:off x="0" y="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0284C7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6" name="Google Shape;316;p22"/>
                    <p:cNvSpPr/>
                    <p:nvPr/>
                  </p:nvSpPr>
                  <p:spPr>
                    <a:xfrm>
                      <a:off x="114300" y="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10B981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7" name="Google Shape;317;p22"/>
                    <p:cNvSpPr/>
                    <p:nvPr/>
                  </p:nvSpPr>
                  <p:spPr>
                    <a:xfrm>
                      <a:off x="0" y="11430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10B981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8" name="Google Shape;318;p22"/>
                    <p:cNvSpPr/>
                    <p:nvPr/>
                  </p:nvSpPr>
                  <p:spPr>
                    <a:xfrm>
                      <a:off x="114300" y="11430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0284C7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19" name="Google Shape;319;p22"/>
                    <p:cNvSpPr/>
                    <p:nvPr/>
                  </p:nvSpPr>
                  <p:spPr>
                    <a:xfrm>
                      <a:off x="19050" y="190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0" name="Google Shape;320;p22"/>
                    <p:cNvSpPr/>
                    <p:nvPr/>
                  </p:nvSpPr>
                  <p:spPr>
                    <a:xfrm>
                      <a:off x="133350" y="190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1" name="Google Shape;321;p22"/>
                    <p:cNvSpPr/>
                    <p:nvPr/>
                  </p:nvSpPr>
                  <p:spPr>
                    <a:xfrm>
                      <a:off x="19050" y="1333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322" name="Google Shape;322;p22"/>
                  <p:cNvSpPr txBox="1"/>
                  <p:nvPr/>
                </p:nvSpPr>
                <p:spPr>
                  <a:xfrm>
                    <a:off x="266700" y="0"/>
                    <a:ext cx="3467100" cy="495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150"/>
                      </a:spcAft>
                      <a:buNone/>
                    </a:pPr>
                    <a:r>
                      <a:rPr b="0" lang="en" sz="1018">
                        <a:solidFill>
                          <a:srgbClr val="0F172A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Dedicated Mobile Applications:</a:t>
                    </a:r>
                    <a:r>
                      <a:rPr b="0" lang="en" sz="1018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Developing native apps for seamless user check-ins and pass management.</a:t>
                    </a:r>
                    <a:endParaRPr b="0" sz="1018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323" name="Google Shape;323;p22"/>
                <p:cNvGrpSpPr/>
                <p:nvPr/>
              </p:nvGrpSpPr>
              <p:grpSpPr>
                <a:xfrm>
                  <a:off x="0" y="514350"/>
                  <a:ext cx="3733800" cy="609600"/>
                  <a:chOff x="0" y="0"/>
                  <a:chExt cx="3733800" cy="609600"/>
                </a:xfrm>
              </p:grpSpPr>
              <p:grpSp>
                <p:nvGrpSpPr>
                  <p:cNvPr id="324" name="Google Shape;324;p22"/>
                  <p:cNvGrpSpPr/>
                  <p:nvPr/>
                </p:nvGrpSpPr>
                <p:grpSpPr>
                  <a:xfrm>
                    <a:off x="0" y="19050"/>
                    <a:ext cx="190500" cy="190500"/>
                    <a:chOff x="0" y="0"/>
                    <a:chExt cx="190500" cy="190500"/>
                  </a:xfrm>
                </p:grpSpPr>
                <p:sp>
                  <p:nvSpPr>
                    <p:cNvPr id="325" name="Google Shape;325;p22"/>
                    <p:cNvSpPr/>
                    <p:nvPr/>
                  </p:nvSpPr>
                  <p:spPr>
                    <a:xfrm>
                      <a:off x="0" y="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0284C7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6" name="Google Shape;326;p22"/>
                    <p:cNvSpPr/>
                    <p:nvPr/>
                  </p:nvSpPr>
                  <p:spPr>
                    <a:xfrm>
                      <a:off x="114300" y="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10B981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7" name="Google Shape;327;p22"/>
                    <p:cNvSpPr/>
                    <p:nvPr/>
                  </p:nvSpPr>
                  <p:spPr>
                    <a:xfrm>
                      <a:off x="0" y="11430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10B981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8" name="Google Shape;328;p22"/>
                    <p:cNvSpPr/>
                    <p:nvPr/>
                  </p:nvSpPr>
                  <p:spPr>
                    <a:xfrm>
                      <a:off x="114300" y="11430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0284C7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29" name="Google Shape;329;p22"/>
                    <p:cNvSpPr/>
                    <p:nvPr/>
                  </p:nvSpPr>
                  <p:spPr>
                    <a:xfrm>
                      <a:off x="19050" y="190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0" name="Google Shape;330;p22"/>
                    <p:cNvSpPr/>
                    <p:nvPr/>
                  </p:nvSpPr>
                  <p:spPr>
                    <a:xfrm>
                      <a:off x="133350" y="190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1" name="Google Shape;331;p22"/>
                    <p:cNvSpPr/>
                    <p:nvPr/>
                  </p:nvSpPr>
                  <p:spPr>
                    <a:xfrm>
                      <a:off x="19050" y="1333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332" name="Google Shape;332;p22"/>
                  <p:cNvSpPr txBox="1"/>
                  <p:nvPr/>
                </p:nvSpPr>
                <p:spPr>
                  <a:xfrm>
                    <a:off x="266700" y="0"/>
                    <a:ext cx="3467100" cy="609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150"/>
                      </a:spcAft>
                      <a:buNone/>
                    </a:pPr>
                    <a:r>
                      <a:rPr b="0" lang="en" sz="1100">
                        <a:solidFill>
                          <a:srgbClr val="0F172A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Biometric &amp; Cloud Integration:</a:t>
                    </a:r>
                    <a:r>
                      <a:rPr b="0" lang="en" sz="11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Implementing facial/fingerprint recognition and cloud databases for remote monitoring.</a:t>
                    </a:r>
                    <a:endParaRPr b="0" sz="11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333" name="Google Shape;333;p22"/>
                <p:cNvGrpSpPr/>
                <p:nvPr/>
              </p:nvGrpSpPr>
              <p:grpSpPr>
                <a:xfrm>
                  <a:off x="0" y="1143000"/>
                  <a:ext cx="3733800" cy="609600"/>
                  <a:chOff x="0" y="0"/>
                  <a:chExt cx="3733800" cy="609600"/>
                </a:xfrm>
              </p:grpSpPr>
              <p:grpSp>
                <p:nvGrpSpPr>
                  <p:cNvPr id="334" name="Google Shape;334;p22"/>
                  <p:cNvGrpSpPr/>
                  <p:nvPr/>
                </p:nvGrpSpPr>
                <p:grpSpPr>
                  <a:xfrm>
                    <a:off x="0" y="19050"/>
                    <a:ext cx="190500" cy="190500"/>
                    <a:chOff x="0" y="0"/>
                    <a:chExt cx="190500" cy="190500"/>
                  </a:xfrm>
                </p:grpSpPr>
                <p:sp>
                  <p:nvSpPr>
                    <p:cNvPr id="335" name="Google Shape;335;p22"/>
                    <p:cNvSpPr/>
                    <p:nvPr/>
                  </p:nvSpPr>
                  <p:spPr>
                    <a:xfrm>
                      <a:off x="0" y="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0284C7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6" name="Google Shape;336;p22"/>
                    <p:cNvSpPr/>
                    <p:nvPr/>
                  </p:nvSpPr>
                  <p:spPr>
                    <a:xfrm>
                      <a:off x="114300" y="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10B981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7" name="Google Shape;337;p22"/>
                    <p:cNvSpPr/>
                    <p:nvPr/>
                  </p:nvSpPr>
                  <p:spPr>
                    <a:xfrm>
                      <a:off x="0" y="11430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10B981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8" name="Google Shape;338;p22"/>
                    <p:cNvSpPr/>
                    <p:nvPr/>
                  </p:nvSpPr>
                  <p:spPr>
                    <a:xfrm>
                      <a:off x="114300" y="114300"/>
                      <a:ext cx="76200" cy="76200"/>
                    </a:xfrm>
                    <a:prstGeom prst="roundRect">
                      <a:avLst>
                        <a:gd fmla="val 12500" name="adj"/>
                      </a:avLst>
                    </a:prstGeom>
                    <a:solidFill>
                      <a:srgbClr val="0284C7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39" name="Google Shape;339;p22"/>
                    <p:cNvSpPr/>
                    <p:nvPr/>
                  </p:nvSpPr>
                  <p:spPr>
                    <a:xfrm>
                      <a:off x="19050" y="190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0" name="Google Shape;340;p22"/>
                    <p:cNvSpPr/>
                    <p:nvPr/>
                  </p:nvSpPr>
                  <p:spPr>
                    <a:xfrm>
                      <a:off x="133350" y="190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341" name="Google Shape;341;p22"/>
                    <p:cNvSpPr/>
                    <p:nvPr/>
                  </p:nvSpPr>
                  <p:spPr>
                    <a:xfrm>
                      <a:off x="19050" y="133350"/>
                      <a:ext cx="38100" cy="3810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342" name="Google Shape;342;p22"/>
                  <p:cNvSpPr txBox="1"/>
                  <p:nvPr/>
                </p:nvSpPr>
                <p:spPr>
                  <a:xfrm>
                    <a:off x="266700" y="0"/>
                    <a:ext cx="3467100" cy="609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150"/>
                      </a:spcAft>
                      <a:buNone/>
                    </a:pPr>
                    <a:r>
                      <a:rPr b="0" lang="en" sz="1100">
                        <a:solidFill>
                          <a:srgbClr val="0F172A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Hardware &amp; Real-Time Alerts:</a:t>
                    </a:r>
                    <a:r>
                      <a:rPr b="0" lang="en" sz="11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Expanding to automated turnstile gate hardware with real-time SMS/email access alerts.</a:t>
                    </a:r>
                    <a:endParaRPr b="0" sz="11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</p:grpSp>
        </p:grpSp>
      </p:grpSp>
      <p:grpSp>
        <p:nvGrpSpPr>
          <p:cNvPr id="343" name="Google Shape;343;p22"/>
          <p:cNvGrpSpPr/>
          <p:nvPr/>
        </p:nvGrpSpPr>
        <p:grpSpPr>
          <a:xfrm>
            <a:off x="4648200" y="1676400"/>
            <a:ext cx="4038600" cy="2857650"/>
            <a:chOff x="0" y="571500"/>
            <a:chExt cx="4038600" cy="2857650"/>
          </a:xfrm>
        </p:grpSpPr>
        <p:pic>
          <p:nvPicPr>
            <p:cNvPr id="344" name="Google Shape;34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571500"/>
              <a:ext cx="4038600" cy="22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22"/>
            <p:cNvSpPr txBox="1"/>
            <p:nvPr/>
          </p:nvSpPr>
          <p:spPr>
            <a:xfrm>
              <a:off x="0" y="2952750"/>
              <a:ext cx="4038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Smart Campus Architecture</a:t>
              </a:r>
              <a:endParaRPr b="0" sz="10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600"/>
                </a:spcAft>
                <a:buNone/>
              </a:pPr>
              <a:r>
                <a:rPr b="0" lang="en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Conceptual layout for mobile authentication, turnstile control, and cloud monitoring integration.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51" name="Google Shape;351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3"/>
            <p:cNvSpPr/>
            <p:nvPr/>
          </p:nvSpPr>
          <p:spPr>
            <a:xfrm>
              <a:off x="2667000" y="666750"/>
              <a:ext cx="3810000" cy="3810000"/>
            </a:xfrm>
            <a:prstGeom prst="ellipse">
              <a:avLst/>
            </a:prstGeom>
            <a:solidFill>
              <a:srgbClr val="E0F2FE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3143250" y="1143000"/>
              <a:ext cx="2857500" cy="28575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5" name="Google Shape;355;p23"/>
          <p:cNvSpPr txBox="1"/>
          <p:nvPr/>
        </p:nvSpPr>
        <p:spPr>
          <a:xfrm>
            <a:off x="762000" y="1524000"/>
            <a:ext cx="7620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Thank You !!!</a:t>
            </a:r>
            <a:endParaRPr b="1" sz="48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200"/>
              </a:spcBef>
              <a:spcAft>
                <a:spcPts val="900"/>
              </a:spcAft>
              <a:buNone/>
            </a:pPr>
            <a:r>
              <a:rPr b="0" lang="en" sz="2400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Questions &amp; Answers</a:t>
            </a:r>
            <a:endParaRPr b="0" sz="2400">
              <a:solidFill>
                <a:srgbClr val="10B98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